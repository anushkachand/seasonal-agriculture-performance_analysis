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75" d="100"/>
          <a:sy n="75" d="100"/>
        </p:scale>
        <p:origin x="372" y="-16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nushkachand/SeaAgriculture_Performance_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8" y="3579033"/>
            <a:ext cx="5190943" cy="861497"/>
          </a:xfrm>
        </p:spPr>
        <p:txBody>
          <a:bodyPr vert="horz" lIns="91440" tIns="45720" rIns="91440" bIns="45720" rtlCol="0" anchor="t">
            <a:normAutofit/>
          </a:bodyPr>
          <a:lstStyle/>
          <a:p>
            <a:pPr algn="r"/>
            <a:r>
              <a:rPr lang="en-US" b="0" dirty="0" smtClean="0">
                <a:solidFill>
                  <a:schemeClr val="tx1"/>
                </a:solidFill>
              </a:rPr>
              <a:t>    </a:t>
            </a:r>
            <a:r>
              <a:rPr lang="en-US" b="0" dirty="0" smtClean="0">
                <a:solidFill>
                  <a:schemeClr val="tx1"/>
                </a:solidFill>
              </a:rPr>
              <a:t>Name – Anushka Chand                                                                                                       </a:t>
            </a:r>
            <a:endParaRPr lang="en-IN" b="0" dirty="0">
              <a:solidFill>
                <a:schemeClr val="tx1"/>
              </a:solidFill>
            </a:endParaRPr>
          </a:p>
          <a:p>
            <a:pPr algn="r"/>
            <a:r>
              <a:rPr lang="en-US" b="0" dirty="0" smtClean="0">
                <a:solidFill>
                  <a:schemeClr val="tx1"/>
                </a:solidFill>
              </a:rPr>
              <a:t>College Name – Babu Banarasi University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7571" y="2794001"/>
            <a:ext cx="7620267" cy="743448"/>
          </a:xfrm>
        </p:spPr>
        <p:txBody>
          <a:bodyPr>
            <a:normAutofit fontScale="90000"/>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962009" cy="369332"/>
          </a:xfrm>
          <a:prstGeom prst="rect">
            <a:avLst/>
          </a:prstGeom>
          <a:noFill/>
        </p:spPr>
        <p:txBody>
          <a:bodyPr wrap="square" rtlCol="0">
            <a:spAutoFit/>
          </a:bodyPr>
          <a:lstStyle/>
          <a:p>
            <a:r>
              <a:rPr lang="en-US" b="1" dirty="0"/>
              <a:t>AICTE STU ID </a:t>
            </a:r>
            <a:r>
              <a:rPr lang="en-US" b="1" dirty="0" smtClean="0"/>
              <a:t>:</a:t>
            </a:r>
            <a:r>
              <a:rPr lang="en-IN" dirty="0"/>
              <a:t>STU681ddd65710601746787685</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4106144"/>
          </a:xfrm>
        </p:spPr>
        <p:txBody>
          <a:bodyPr vert="horz" lIns="91440" tIns="45720" rIns="91440" bIns="45720" rtlCol="0" anchor="t">
            <a:normAutofit/>
          </a:bodyPr>
          <a:lstStyle/>
          <a:p>
            <a:r>
              <a:rPr lang="en-US" sz="1700" dirty="0"/>
              <a:t>Agricultural activities are influenced by seasonal variations in environmental </a:t>
            </a:r>
            <a:r>
              <a:rPr lang="en-US" sz="1700" dirty="0" smtClean="0"/>
              <a:t>conditions, farming </a:t>
            </a:r>
            <a:r>
              <a:rPr lang="en-US" sz="1700" dirty="0"/>
              <a:t>practices, resource availability and market conditions. As a result, </a:t>
            </a:r>
            <a:r>
              <a:rPr lang="en-US" sz="1700" dirty="0" smtClean="0"/>
              <a:t>agricultural performance </a:t>
            </a:r>
            <a:r>
              <a:rPr lang="en-US" sz="1700" dirty="0"/>
              <a:t>may differ from one season to another.</a:t>
            </a:r>
          </a:p>
          <a:p>
            <a:r>
              <a:rPr lang="en-US" sz="1700" dirty="0"/>
              <a:t>However, raw agricultural data does not clearly explain how agricultural performance </a:t>
            </a:r>
            <a:r>
              <a:rPr lang="en-US" sz="1700" dirty="0" smtClean="0"/>
              <a:t>changes across </a:t>
            </a:r>
            <a:r>
              <a:rPr lang="en-US" sz="1700" dirty="0"/>
              <a:t>seasons or what patterns can be observed in different seasonal conditions.</a:t>
            </a:r>
          </a:p>
          <a:p>
            <a:r>
              <a:rPr lang="en-US" sz="1700" dirty="0"/>
              <a:t>The problem is to analyze the given agricultural dataset and investigate seasonal </a:t>
            </a:r>
            <a:r>
              <a:rPr lang="en-US" sz="1700" dirty="0" smtClean="0"/>
              <a:t>differences in </a:t>
            </a:r>
            <a:r>
              <a:rPr lang="en-US" sz="1700" dirty="0"/>
              <a:t>agricultural performance by identifying meaningful patterns, trends, relationships </a:t>
            </a:r>
            <a:r>
              <a:rPr lang="en-US" sz="1700" dirty="0" smtClean="0"/>
              <a:t>and variations </a:t>
            </a:r>
            <a:r>
              <a:rPr lang="en-US" sz="1700" dirty="0"/>
              <a:t>within the available data.</a:t>
            </a:r>
            <a:endParaRPr lang="en-US" sz="17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78512" y="627792"/>
            <a:ext cx="6150000" cy="5350000"/>
          </a:xfrm>
        </p:spPr>
        <p:txBody>
          <a:bodyPr>
            <a:normAutofit fontScale="90000"/>
          </a:bodyPr>
          <a:lstStyle/>
          <a:p>
            <a:r>
              <a:rPr lang="en-GB" sz="3200" dirty="0"/>
              <a:t>Project Description</a:t>
            </a:r>
          </a:p>
          <a:p>
            <a:pPr marL="285750" indent="-285750">
              <a:lnSpc>
                <a:spcPct val="120000"/>
              </a:lnSpc>
              <a:spcBef>
                <a:spcPts val="1200"/>
              </a:spcBef>
              <a:buFont typeface="Arial" panose="020B0604020202020204" pitchFamily="34" charset="0"/>
              <a:buChar char="•"/>
            </a:pPr>
            <a:r>
              <a:rPr lang="en-US" sz="1800" b="0" dirty="0"/>
              <a:t>This project analyzes a dataset of 4,000 farm records spanning multiple Indian states, crops and the three cropping seasons – Kharif, Rabi and Zaid.</a:t>
            </a:r>
          </a:p>
          <a:p>
            <a:pPr marL="285750" indent="-285750">
              <a:lnSpc>
                <a:spcPct val="120000"/>
              </a:lnSpc>
              <a:spcBef>
                <a:spcPts val="1200"/>
              </a:spcBef>
              <a:buFont typeface="Arial" panose="020B0604020202020204" pitchFamily="34" charset="0"/>
              <a:buChar char="•"/>
            </a:pPr>
            <a:r>
              <a:rPr lang="en-US" sz="1800" b="0" dirty="0"/>
              <a:t>Each record captures farming practices, environmental conditions (rainfall, temperature, humidity, soil), resource usage (fertilizer, pesticide, water, irrigation method) and economic outcomes (cost, revenue, profit).</a:t>
            </a:r>
          </a:p>
          <a:p>
            <a:pPr marL="285750" indent="-285750">
              <a:lnSpc>
                <a:spcPct val="120000"/>
              </a:lnSpc>
              <a:spcBef>
                <a:spcPts val="1200"/>
              </a:spcBef>
              <a:buFont typeface="Arial" panose="020B0604020202020204" pitchFamily="34" charset="0"/>
              <a:buChar char="•"/>
            </a:pPr>
            <a:r>
              <a:rPr lang="en-US" sz="1800" b="0" dirty="0"/>
              <a:t>The data is cleaned, explored and analyzed using Python to compare seasonal performance and identify patterns, relationships and differences in yield, profitability, resource use and risk.</a:t>
            </a:r>
          </a:p>
          <a:p>
            <a:pPr marL="285750" indent="-285750">
              <a:lnSpc>
                <a:spcPct val="120000"/>
              </a:lnSpc>
              <a:spcBef>
                <a:spcPts val="1200"/>
              </a:spcBef>
              <a:buFont typeface="Arial" panose="020B0604020202020204" pitchFamily="34" charset="0"/>
              <a:buChar char="•"/>
            </a:pPr>
            <a:r>
              <a:rPr lang="en-US" sz="1800" b="0" dirty="0"/>
              <a:t>Findings are translated into evidence-based insights and recommendations to support better seasonal agricultural planning.</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92500" lnSpcReduction="10000"/>
          </a:bodyPr>
          <a:lstStyle/>
          <a:p>
            <a:pPr marL="342900" indent="-342900" algn="l">
              <a:lnSpc>
                <a:spcPct val="130000"/>
              </a:lnSpc>
              <a:buFont typeface="Arial" panose="020B0604020202020204" pitchFamily="34" charset="0"/>
              <a:buChar char="•"/>
            </a:pPr>
            <a:r>
              <a:rPr lang="en-US" sz="2000" b="1" dirty="0"/>
              <a:t>Farmers &amp; farm managers</a:t>
            </a:r>
            <a:r>
              <a:rPr lang="en-US" sz="2000" dirty="0"/>
              <a:t> – plan sowing, irrigation and input use around seasonal performance trends.</a:t>
            </a:r>
          </a:p>
          <a:p>
            <a:pPr marL="342900" indent="-342900" algn="l">
              <a:lnSpc>
                <a:spcPct val="130000"/>
              </a:lnSpc>
              <a:buFont typeface="Arial" panose="020B0604020202020204" pitchFamily="34" charset="0"/>
              <a:buChar char="•"/>
            </a:pPr>
            <a:r>
              <a:rPr lang="en-US" sz="2000" b="1" dirty="0"/>
              <a:t>Agricultural policymakers &amp; planners</a:t>
            </a:r>
            <a:r>
              <a:rPr lang="en-US" sz="2000" dirty="0"/>
              <a:t> – use seasonal evidence for resource allocation and planning.</a:t>
            </a:r>
          </a:p>
          <a:p>
            <a:pPr marL="342900" indent="-342900" algn="l">
              <a:lnSpc>
                <a:spcPct val="130000"/>
              </a:lnSpc>
              <a:buFont typeface="Arial" panose="020B0604020202020204" pitchFamily="34" charset="0"/>
              <a:buChar char="•"/>
            </a:pPr>
            <a:r>
              <a:rPr lang="en-US" sz="2000" b="1" dirty="0"/>
              <a:t>Agri-business &amp; market analysts</a:t>
            </a:r>
            <a:r>
              <a:rPr lang="en-US" sz="2000" dirty="0"/>
              <a:t> – anticipate production and pricing patterns by season.</a:t>
            </a:r>
          </a:p>
          <a:p>
            <a:pPr marL="342900" indent="-342900" algn="l">
              <a:lnSpc>
                <a:spcPct val="130000"/>
              </a:lnSpc>
              <a:buFont typeface="Arial" panose="020B0604020202020204" pitchFamily="34" charset="0"/>
              <a:buChar char="•"/>
            </a:pPr>
            <a:r>
              <a:rPr lang="en-US" sz="2000" b="1" dirty="0"/>
              <a:t>Banks &amp; crop insurance providers</a:t>
            </a:r>
            <a:r>
              <a:rPr lang="en-US" sz="2000" dirty="0"/>
              <a:t> – </a:t>
            </a:r>
            <a:r>
              <a:rPr lang="en-US" sz="1900" dirty="0"/>
              <a:t>assess seasonal risk for credit and insurance decisions.</a:t>
            </a:r>
          </a:p>
          <a:p>
            <a:pPr marL="342900" indent="-342900" algn="l">
              <a:lnSpc>
                <a:spcPct val="130000"/>
              </a:lnSpc>
              <a:buFont typeface="Arial" panose="020B0604020202020204" pitchFamily="34" charset="0"/>
              <a:buChar char="•"/>
            </a:pPr>
            <a:r>
              <a:rPr lang="en-US" sz="1900" b="1" dirty="0"/>
              <a:t>Researchers &amp; students</a:t>
            </a:r>
            <a:r>
              <a:rPr lang="en-US" sz="1900" dirty="0"/>
              <a:t> – </a:t>
            </a:r>
            <a:r>
              <a:rPr lang="en-US" sz="1700" dirty="0"/>
              <a:t>use the findings as a base for further agricultural data studies.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100000" y="1432560"/>
            <a:ext cx="7318320" cy="5243448"/>
          </a:xfrm>
        </p:spPr>
        <p:txBody>
          <a:bodyPr>
            <a:normAutofit lnSpcReduction="10000"/>
          </a:bodyPr>
          <a:lstStyle/>
          <a:p>
            <a:pPr marL="342900" indent="-342900">
              <a:lnSpc>
                <a:spcPct val="130000"/>
              </a:lnSpc>
              <a:buFont typeface="Arial" panose="020B0604020202020204" pitchFamily="34" charset="0"/>
              <a:buChar char="•"/>
            </a:pPr>
            <a:r>
              <a:rPr lang="en-US" sz="2000" b="1" dirty="0"/>
              <a:t>Python</a:t>
            </a:r>
            <a:r>
              <a:rPr lang="en-US" sz="2000" dirty="0"/>
              <a:t> – core language used for data cleaning and analysis.</a:t>
            </a:r>
          </a:p>
          <a:p>
            <a:pPr marL="342900" indent="-342900">
              <a:lnSpc>
                <a:spcPct val="130000"/>
              </a:lnSpc>
              <a:buFont typeface="Arial" panose="020B0604020202020204" pitchFamily="34" charset="0"/>
              <a:buChar char="•"/>
            </a:pPr>
            <a:r>
              <a:rPr lang="en-US" sz="2000" b="1" dirty="0"/>
              <a:t>Pandas &amp; NumPy</a:t>
            </a:r>
            <a:r>
              <a:rPr lang="en-US" sz="2000" dirty="0"/>
              <a:t> – data cleaning, aggregation and seasonal grouping.</a:t>
            </a:r>
          </a:p>
          <a:p>
            <a:pPr marL="342900" indent="-342900">
              <a:lnSpc>
                <a:spcPct val="130000"/>
              </a:lnSpc>
              <a:buFont typeface="Arial" panose="020B0604020202020204" pitchFamily="34" charset="0"/>
              <a:buChar char="•"/>
            </a:pPr>
            <a:r>
              <a:rPr lang="en-US" sz="2000" b="1" dirty="0"/>
              <a:t>Matplotlib &amp; Seaborn</a:t>
            </a:r>
            <a:r>
              <a:rPr lang="en-US" sz="2000" dirty="0"/>
              <a:t> – statistical charts and visual comparisons across seasons.</a:t>
            </a:r>
          </a:p>
          <a:p>
            <a:pPr marL="342900" indent="-342900">
              <a:lnSpc>
                <a:spcPct val="130000"/>
              </a:lnSpc>
              <a:buFont typeface="Arial" panose="020B0604020202020204" pitchFamily="34" charset="0"/>
              <a:buChar char="•"/>
            </a:pPr>
            <a:r>
              <a:rPr lang="en-US" sz="2000" b="1" dirty="0"/>
              <a:t>Jupyter Notebook</a:t>
            </a:r>
            <a:r>
              <a:rPr lang="en-US" sz="2000" dirty="0"/>
              <a:t> – interactive environment for documenting the full analysis.</a:t>
            </a:r>
          </a:p>
          <a:p>
            <a:pPr marL="342900" indent="-342900">
              <a:lnSpc>
                <a:spcPct val="130000"/>
              </a:lnSpc>
              <a:buFont typeface="Arial" panose="020B0604020202020204" pitchFamily="34" charset="0"/>
              <a:buChar char="•"/>
            </a:pPr>
            <a:r>
              <a:rPr lang="en-US" sz="2000" b="1" dirty="0"/>
              <a:t>Descriptive statistics</a:t>
            </a:r>
            <a:r>
              <a:rPr lang="en-US" sz="2000" dirty="0"/>
              <a:t> – means, correlations and group comparisons across seasons.</a:t>
            </a:r>
          </a:p>
          <a:p>
            <a:pPr marL="342900" indent="-342900">
              <a:lnSpc>
                <a:spcPct val="130000"/>
              </a:lnSpc>
              <a:buFont typeface="Arial" panose="020B0604020202020204" pitchFamily="34" charset="0"/>
              <a:buChar char="•"/>
            </a:pPr>
            <a:r>
              <a:rPr lang="en-US" sz="2000" b="1" dirty="0"/>
              <a:t>CSV dataset</a:t>
            </a:r>
            <a:r>
              <a:rPr lang="en-US" sz="2000" dirty="0"/>
              <a:t> – 4,000-record seasonal agriculture performance dataset.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75957" y="1275371"/>
            <a:ext cx="8500000" cy="550000"/>
          </a:xfrm>
        </p:spPr>
        <p:txBody>
          <a:bodyPr vert="horz" lIns="91440" tIns="45720" rIns="91440" bIns="45720" rtlCol="0" anchor="t">
            <a:normAutofit/>
          </a:bodyPr>
          <a:lstStyle/>
          <a:p>
            <a:pPr marL="0" indent="0">
              <a:buNone/>
            </a:pPr>
            <a:r>
              <a:rPr lang="en-US" sz="1600" b="1" dirty="0"/>
              <a:t>Result </a:t>
            </a:r>
            <a:r>
              <a:rPr lang="en-US" sz="1600" b="1" dirty="0"/>
              <a:t>1:Average Crop Yield by Season</a:t>
            </a:r>
            <a:endParaRPr lang="en-IN" sz="1600" b="1" dirty="0"/>
          </a:p>
        </p:txBody>
      </p:sp>
      <p:pic>
        <p:nvPicPr>
          <p:cNvPr id="9" name="Chart Yield By Season"/>
          <p:cNvPicPr>
            <a:picLocks noChangeAspect="1"/>
          </p:cNvPicPr>
          <p:nvPr/>
        </p:nvPicPr>
        <p:blipFill>
          <a:blip r:embed="rId3"/>
          <a:stretch>
            <a:fillRect/>
          </a:stretch>
        </p:blipFill>
        <p:spPr>
          <a:xfrm>
            <a:off x="820000" y="2150000"/>
            <a:ext cx="7600000" cy="36200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75957" y="1275371"/>
            <a:ext cx="8500000" cy="550000"/>
          </a:xfrm>
        </p:spPr>
        <p:txBody>
          <a:bodyPr/>
          <a:lstStyle/>
          <a:p>
            <a:pPr marL="0" indent="0">
              <a:buNone/>
            </a:pPr>
            <a:r>
              <a:rPr lang="en-US" sz="1600" b="1" dirty="0"/>
              <a:t>Result </a:t>
            </a:r>
            <a:r>
              <a:rPr lang="en-US" sz="1600" b="1" dirty="0"/>
              <a:t>2 Average Profit by Season </a:t>
            </a:r>
            <a:endParaRPr lang="en-IN" sz="1600" b="1" dirty="0"/>
          </a:p>
        </p:txBody>
      </p:sp>
      <p:pic>
        <p:nvPicPr>
          <p:cNvPr id="2" name="Picture 1"/>
          <p:cNvPicPr>
            <a:picLocks noChangeAspect="1"/>
          </p:cNvPicPr>
          <p:nvPr/>
        </p:nvPicPr>
        <p:blipFill>
          <a:blip r:embed="rId3"/>
          <a:stretch>
            <a:fillRect/>
          </a:stretch>
        </p:blipFill>
        <p:spPr>
          <a:xfrm>
            <a:off x="1473144" y="2108200"/>
            <a:ext cx="7188256" cy="37338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5957" y="1275371"/>
            <a:ext cx="8500000" cy="550000"/>
          </a:xfrm>
        </p:spPr>
        <p:txBody>
          <a:bodyPr/>
          <a:lstStyle/>
          <a:p>
            <a:pPr marL="0" indent="0">
              <a:buNone/>
            </a:pPr>
            <a:r>
              <a:rPr lang="en-US" sz="1600" b="1" dirty="0"/>
              <a:t>Result 3: Kharif is wetter and more humid; Zaid is hottest</a:t>
            </a:r>
            <a:endParaRPr lang="en-IN" sz="1600" b="1" dirty="0"/>
          </a:p>
        </p:txBody>
      </p:sp>
      <p:pic>
        <p:nvPicPr>
          <p:cNvPr id="2" name="Picture 1"/>
          <p:cNvPicPr>
            <a:picLocks noChangeAspect="1"/>
          </p:cNvPicPr>
          <p:nvPr/>
        </p:nvPicPr>
        <p:blipFill>
          <a:blip r:embed="rId3"/>
          <a:stretch>
            <a:fillRect/>
          </a:stretch>
        </p:blipFill>
        <p:spPr>
          <a:xfrm>
            <a:off x="1017587" y="2120431"/>
            <a:ext cx="8658225" cy="414066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75957" y="1275371"/>
            <a:ext cx="8500000" cy="550000"/>
          </a:xfrm>
        </p:spPr>
        <p:txBody>
          <a:bodyPr/>
          <a:lstStyle/>
          <a:p>
            <a:pPr marL="0" indent="0">
              <a:buNone/>
            </a:pPr>
            <a:r>
              <a:rPr lang="en-US" sz="1600" b="1" dirty="0"/>
              <a:t>Result 4: Drip &amp; rainfed irrigation are more water-efficient than flood</a:t>
            </a:r>
            <a:endParaRPr lang="en-IN" sz="1600" b="1" dirty="0"/>
          </a:p>
        </p:txBody>
      </p:sp>
      <p:pic>
        <p:nvPicPr>
          <p:cNvPr id="9" name="Chart Water Efficiency"/>
          <p:cNvPicPr>
            <a:picLocks noChangeAspect="1"/>
          </p:cNvPicPr>
          <p:nvPr/>
        </p:nvPicPr>
        <p:blipFill>
          <a:blip r:embed="rId3"/>
          <a:stretch>
            <a:fillRect/>
          </a:stretch>
        </p:blipFill>
        <p:spPr>
          <a:xfrm>
            <a:off x="820000" y="2150000"/>
            <a:ext cx="7600000" cy="36200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75957" y="1275371"/>
            <a:ext cx="8500000" cy="550000"/>
          </a:xfrm>
        </p:spPr>
        <p:txBody>
          <a:bodyPr/>
          <a:lstStyle/>
          <a:p>
            <a:pPr marL="0" indent="0">
              <a:buNone/>
            </a:pPr>
            <a:r>
              <a:rPr lang="en-US" sz="1600" b="1" dirty="0"/>
              <a:t>Result 5: Disease/pest risk is highest in Kharif despite similar fertilizer use</a:t>
            </a:r>
            <a:endParaRPr lang="en-IN" sz="1600" b="1" dirty="0"/>
          </a:p>
        </p:txBody>
      </p:sp>
      <p:pic>
        <p:nvPicPr>
          <p:cNvPr id="9" name="Chart Risk Fertilizer"/>
          <p:cNvPicPr>
            <a:picLocks noChangeAspect="1"/>
          </p:cNvPicPr>
          <p:nvPr/>
        </p:nvPicPr>
        <p:blipFill>
          <a:blip r:embed="rId3"/>
          <a:stretch>
            <a:fillRect/>
          </a:stretch>
        </p:blipFill>
        <p:spPr>
          <a:xfrm>
            <a:off x="820000" y="2150000"/>
            <a:ext cx="7600000" cy="3620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1" name="Future Scope Content"/>
          <p:cNvSpPr txBox="1"/>
          <p:nvPr/>
        </p:nvSpPr>
        <p:spPr>
          <a:xfrm>
            <a:off x="675957" y="1500000"/>
            <a:ext cx="6300000" cy="4750000"/>
          </a:xfrm>
          <a:prstGeom prst="rect">
            <a:avLst/>
          </a:prstGeom>
        </p:spPr>
        <p:txBody>
          <a:bodyPr wrap="square">
            <a:normAutofit/>
          </a:bodyPr>
          <a:lstStyle/>
          <a:p>
            <a:pPr marL="342900" indent="-342900">
              <a:lnSpc>
                <a:spcPct val="130000"/>
              </a:lnSpc>
              <a:buFont typeface="Arial" panose="020B0604020202020204" pitchFamily="34" charset="0"/>
              <a:buChar char="•"/>
            </a:pPr>
            <a:r>
              <a:rPr lang="en-US" sz="1600" b="1" dirty="0"/>
              <a:t>Yield prediction models</a:t>
            </a:r>
            <a:r>
              <a:rPr lang="en-US" sz="1600" dirty="0"/>
              <a:t> – apply machine learning to forecast season-wise yield and profit.</a:t>
            </a:r>
          </a:p>
          <a:p>
            <a:pPr marL="342900" indent="-342900">
              <a:lnSpc>
                <a:spcPct val="130000"/>
              </a:lnSpc>
              <a:buFont typeface="Arial" panose="020B0604020202020204" pitchFamily="34" charset="0"/>
              <a:buChar char="•"/>
            </a:pPr>
            <a:r>
              <a:rPr lang="en-US" sz="1600" b="1" dirty="0"/>
              <a:t>Real-time weather &amp; soil integration</a:t>
            </a:r>
            <a:r>
              <a:rPr lang="en-US" sz="1600" dirty="0"/>
              <a:t> – refine seasonal recommendations with live data feeds.</a:t>
            </a:r>
          </a:p>
          <a:p>
            <a:pPr marL="342900" indent="-342900">
              <a:lnSpc>
                <a:spcPct val="130000"/>
              </a:lnSpc>
              <a:buFont typeface="Arial" panose="020B0604020202020204" pitchFamily="34" charset="0"/>
              <a:buChar char="•"/>
            </a:pPr>
            <a:r>
              <a:rPr lang="en-US" sz="1600" b="1" dirty="0"/>
              <a:t>Zaid-season profitability study</a:t>
            </a:r>
            <a:r>
              <a:rPr lang="en-US" sz="1600" dirty="0"/>
              <a:t> – investigate why Zaid runs at a loss and test mitigation strategies.</a:t>
            </a:r>
          </a:p>
          <a:p>
            <a:pPr marL="342900" indent="-342900">
              <a:lnSpc>
                <a:spcPct val="130000"/>
              </a:lnSpc>
              <a:buFont typeface="Arial" panose="020B0604020202020204" pitchFamily="34" charset="0"/>
              <a:buChar char="•"/>
            </a:pPr>
            <a:r>
              <a:rPr lang="en-US" sz="2000" b="1" dirty="0"/>
              <a:t>Wider geographic coverage</a:t>
            </a:r>
            <a:r>
              <a:rPr lang="en-US" sz="2000" dirty="0"/>
              <a:t> – </a:t>
            </a:r>
            <a:r>
              <a:rPr lang="en-US" sz="1600" dirty="0"/>
              <a:t>extend the dataset to more states, districts and crop varieties.</a:t>
            </a:r>
          </a:p>
          <a:p>
            <a:pPr marL="342900" indent="-342900">
              <a:lnSpc>
                <a:spcPct val="130000"/>
              </a:lnSpc>
              <a:buFont typeface="Arial" panose="020B0604020202020204" pitchFamily="34" charset="0"/>
              <a:buChar char="•"/>
            </a:pPr>
            <a:r>
              <a:rPr lang="en-US" sz="2000" b="1" dirty="0"/>
              <a:t>Interactive dashboard</a:t>
            </a:r>
            <a:r>
              <a:rPr lang="en-US" sz="1600" dirty="0"/>
              <a:t> – build a live dashboard so farmers and planners can explore seasonal trends themselves.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1" name="GitHub Link Content"/>
          <p:cNvSpPr txBox="1"/>
          <p:nvPr/>
        </p:nvSpPr>
        <p:spPr>
          <a:xfrm>
            <a:off x="675957" y="2200000"/>
            <a:ext cx="10600000" cy="1800000"/>
          </a:xfrm>
          <a:prstGeom prst="rect">
            <a:avLst/>
          </a:prstGeom>
        </p:spPr>
        <p:txBody>
          <a:bodyPr wrap="square">
            <a:normAutofit/>
          </a:bodyPr>
          <a:lstStyle/>
          <a:p>
            <a:pPr>
              <a:lnSpc>
                <a:spcPct val="130000"/>
              </a:lnSpc>
            </a:pPr>
            <a:r>
              <a:rPr lang="en-US" i="1" dirty="0">
                <a:hlinkClick r:id="rId3"/>
              </a:rPr>
              <a:t>https://</a:t>
            </a:r>
            <a:r>
              <a:rPr lang="en-US" i="1" dirty="0" smtClean="0">
                <a:hlinkClick r:id="rId3"/>
              </a:rPr>
              <a:t>github.com/Anushkachand/SeaAgriculture_Performance_Analysis.git</a:t>
            </a:r>
            <a:endParaRPr lang="en-US" i="1" dirty="0" smtClean="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1747519" y="1608410"/>
            <a:ext cx="7034601" cy="426976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47206" y="1732990"/>
            <a:ext cx="11340000" cy="692721"/>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documentManagement/types"/>
    <ds:schemaRef ds:uri="71af3243-3dd4-4a8d-8c0d-dd76da1f02a5"/>
    <ds:schemaRef ds:uri="http://purl.org/dc/dcmitype/"/>
    <ds:schemaRef ds:uri="http://purl.org/dc/elements/1.1/"/>
    <ds:schemaRef ds:uri="http://www.w3.org/XML/1998/namespace"/>
    <ds:schemaRef ds:uri="http://purl.org/dc/terms/"/>
    <ds:schemaRef ds:uri="http://schemas.microsoft.com/office/infopath/2007/PartnerControls"/>
    <ds:schemaRef ds:uri="http://schemas.openxmlformats.org/package/2006/metadata/core-properties"/>
    <ds:schemaRef ds:uri="16c05727-aa75-4e4a-9b5f-8a80a1165891"/>
    <ds:schemaRef ds:uri="http://schemas.microsoft.com/office/2006/metadata/properties"/>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767</TotalTime>
  <Words>526</Words>
  <Application>Microsoft Office PowerPoint</Application>
  <PresentationFormat>Widescreen</PresentationFormat>
  <Paragraphs>49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This project analyzes a dataset of 4,000 farm records spanning multiple Indian states, crops and the three cropping seasons – Kharif, Rabi and Zaid. Each record captures farming practices, environmental conditions (rainfall, temperature, humidity, soil), resource usage (fertilizer, pesticide, water, irrigation method) and economic outcomes (cost, revenue, profit). The data is cleaned, explored and analyzed using Python to compare seasonal performance and identify patterns, relationships and differences in yield, profitability, resource use and risk. Findings are translated into evidence-based insights and recommendations to support better seasonal agricultural planning.</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Lenovo</cp:lastModifiedBy>
  <cp:revision>104</cp:revision>
  <dcterms:created xsi:type="dcterms:W3CDTF">2021-07-11T13:13:15Z</dcterms:created>
  <dcterms:modified xsi:type="dcterms:W3CDTF">2026-09-10T08:07:22Z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